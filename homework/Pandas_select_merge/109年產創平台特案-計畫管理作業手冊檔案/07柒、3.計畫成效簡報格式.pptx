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1689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點陣圖影像" r:id="rId14" imgW="1438095" imgH="380852" progId="PBrush">
                  <p:embed/>
                </p:oleObj>
              </mc:Choice>
              <mc:Fallback>
                <p:oleObj name="點陣圖影像" r:id="rId14" imgW="1438095" imgH="380852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89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F81B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EEECE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9DF3F-CEB2-4D19-8361-B8FBE3DCDB21}" type="datetimeFigureOut">
              <a:rPr lang="zh-TW" altLang="en-US" smtClean="0"/>
              <a:pPr/>
              <a:t>2016/5/16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E1BF1-D01D-40AB-8EB5-5C68508C8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字方塊 26"/>
          <p:cNvSpPr txBox="1"/>
          <p:nvPr/>
        </p:nvSpPr>
        <p:spPr>
          <a:xfrm>
            <a:off x="4572000" y="3284984"/>
            <a:ext cx="4404360" cy="1368152"/>
          </a:xfrm>
          <a:prstGeom prst="rect">
            <a:avLst/>
          </a:prstGeom>
          <a:ln w="12700">
            <a:solidFill>
              <a:srgbClr val="00B05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9745" tIns="49873" rIns="99745" bIns="49873" anchor="ctr"/>
          <a:lstStyle/>
          <a:p>
            <a:pPr marL="180975" indent="-180975" latinLnBrk="1">
              <a:lnSpc>
                <a:spcPct val="130000"/>
              </a:lnSpc>
              <a:buFontTx/>
              <a:buChar char="•"/>
            </a:pPr>
            <a:endParaRPr lang="zh-TW" altLang="en-US" sz="1300" b="1" dirty="0">
              <a:solidFill>
                <a:srgbClr val="800000"/>
              </a:solidFill>
              <a:ea typeface="標楷體" pitchFamily="65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572000" y="1772816"/>
            <a:ext cx="4392488" cy="1296144"/>
          </a:xfrm>
          <a:prstGeom prst="rect">
            <a:avLst/>
          </a:prstGeom>
          <a:ln w="12700">
            <a:solidFill>
              <a:schemeClr val="accent6">
                <a:lumMod val="75000"/>
              </a:schemeClr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9745" tIns="49873" rIns="99745" bIns="49873" anchor="ctr"/>
          <a:lstStyle/>
          <a:p>
            <a:pPr marL="180975" indent="-180975" latinLnBrk="1">
              <a:lnSpc>
                <a:spcPct val="130000"/>
              </a:lnSpc>
              <a:buFontTx/>
              <a:buChar char="•"/>
            </a:pPr>
            <a:endParaRPr lang="zh-TW" altLang="en-US" sz="1300" b="1" dirty="0">
              <a:solidFill>
                <a:srgbClr val="800000"/>
              </a:solidFill>
              <a:ea typeface="標楷體" pitchFamily="65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95536" y="1844824"/>
            <a:ext cx="3888432" cy="2808312"/>
          </a:xfrm>
          <a:prstGeom prst="rect">
            <a:avLst/>
          </a:prstGeom>
          <a:ln w="1270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9745" tIns="49873" rIns="99745" bIns="49873" anchor="ctr"/>
          <a:lstStyle/>
          <a:p>
            <a:pPr marL="180975" indent="-180975" latinLnBrk="1">
              <a:lnSpc>
                <a:spcPct val="130000"/>
              </a:lnSpc>
              <a:buFontTx/>
              <a:buChar char="•"/>
            </a:pPr>
            <a:endParaRPr lang="zh-TW" altLang="en-US" sz="1300" b="1" dirty="0">
              <a:solidFill>
                <a:srgbClr val="800000"/>
              </a:solidFill>
              <a:ea typeface="標楷體" pitchFamily="65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67544" y="5013176"/>
            <a:ext cx="8493576" cy="1656184"/>
          </a:xfrm>
          <a:prstGeom prst="rect">
            <a:avLst/>
          </a:prstGeom>
          <a:ln w="12700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9745" tIns="49873" rIns="99745" bIns="49873" anchor="ctr"/>
          <a:lstStyle/>
          <a:p>
            <a:pPr marL="180975" indent="-180975" latinLnBrk="1">
              <a:lnSpc>
                <a:spcPct val="130000"/>
              </a:lnSpc>
              <a:buFontTx/>
              <a:buChar char="•"/>
            </a:pPr>
            <a:endParaRPr lang="zh-TW" altLang="en-US" sz="1300" b="1" dirty="0">
              <a:solidFill>
                <a:srgbClr val="800000"/>
              </a:solidFill>
              <a:ea typeface="標楷體" pitchFamily="65" charset="-12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323528" y="4797152"/>
            <a:ext cx="4896544" cy="504056"/>
            <a:chOff x="251520" y="2132856"/>
            <a:chExt cx="4896544" cy="504056"/>
          </a:xfrm>
        </p:grpSpPr>
        <p:sp>
          <p:nvSpPr>
            <p:cNvPr id="7" name="圓角矩形 6"/>
            <p:cNvSpPr/>
            <p:nvPr/>
          </p:nvSpPr>
          <p:spPr>
            <a:xfrm>
              <a:off x="251520" y="2132856"/>
              <a:ext cx="4896544" cy="504056"/>
            </a:xfrm>
            <a:prstGeom prst="roundRect">
              <a:avLst>
                <a:gd name="adj" fmla="val 8554"/>
              </a:avLst>
            </a:prstGeom>
            <a:solidFill>
              <a:srgbClr val="FFC000"/>
            </a:solidFill>
            <a:ln>
              <a:noFill/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lIns="99745" tIns="49873" rIns="99745" bIns="49873" anchor="ctr"/>
            <a:lstStyle/>
            <a:p>
              <a:pPr marL="180975" latinLnBrk="1">
                <a:lnSpc>
                  <a:spcPct val="130000"/>
                </a:lnSpc>
                <a:buFontTx/>
                <a:buChar char="•"/>
              </a:pPr>
              <a:endParaRPr lang="zh-TW" altLang="en-US" sz="1300" b="1" dirty="0">
                <a:solidFill>
                  <a:srgbClr val="800000"/>
                </a:solidFill>
                <a:ea typeface="標楷體" pitchFamily="65" charset="-120"/>
              </a:endParaRPr>
            </a:p>
          </p:txBody>
        </p:sp>
        <p:sp>
          <p:nvSpPr>
            <p:cNvPr id="8" name="TextBox 3"/>
            <p:cNvSpPr txBox="1"/>
            <p:nvPr/>
          </p:nvSpPr>
          <p:spPr>
            <a:xfrm>
              <a:off x="827584" y="2132856"/>
              <a:ext cx="424847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TW" altLang="en-US" sz="2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軟正黑體" pitchFamily="34" charset="-120"/>
                  <a:ea typeface="微軟正黑體" pitchFamily="34" charset="-120"/>
                </a:rPr>
                <a:t>計畫開發成效</a:t>
              </a:r>
              <a:r>
                <a:rPr lang="en-US" altLang="zh-TW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軟正黑體" pitchFamily="34" charset="-120"/>
                  <a:ea typeface="微軟正黑體" pitchFamily="34" charset="-120"/>
                </a:rPr>
                <a:t>(</a:t>
              </a:r>
              <a:r>
                <a:rPr lang="zh-TW" alt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軟正黑體" pitchFamily="34" charset="-120"/>
                  <a:ea typeface="微軟正黑體" pitchFamily="34" charset="-120"/>
                </a:rPr>
                <a:t>請列舉具體量化實績</a:t>
              </a:r>
              <a:r>
                <a:rPr lang="en-US" altLang="zh-TW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軟正黑體" pitchFamily="34" charset="-120"/>
                  <a:ea typeface="微軟正黑體" pitchFamily="34" charset="-120"/>
                </a:rPr>
                <a:t>)</a:t>
              </a:r>
              <a:endParaRPr lang="en-US" alt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99886" y="2132856"/>
              <a:ext cx="62388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 smtClean="0">
                  <a:solidFill>
                    <a:schemeClr val="bg1"/>
                  </a:solidFill>
                  <a:effectLst>
                    <a:innerShdw blurRad="63500" dist="76200" dir="13500000">
                      <a:prstClr val="black">
                        <a:alpha val="38000"/>
                      </a:prstClr>
                    </a:innerShdw>
                  </a:effectLst>
                  <a:latin typeface="Verdana" pitchFamily="34" charset="0"/>
                </a:rPr>
                <a:t>04</a:t>
              </a:r>
              <a:endParaRPr lang="zh-TW" altLang="en-US" sz="240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51520" y="1700808"/>
            <a:ext cx="2232248" cy="504056"/>
            <a:chOff x="251520" y="1700808"/>
            <a:chExt cx="2232248" cy="504056"/>
          </a:xfrm>
        </p:grpSpPr>
        <p:sp>
          <p:nvSpPr>
            <p:cNvPr id="11" name="圓角矩形 10"/>
            <p:cNvSpPr/>
            <p:nvPr/>
          </p:nvSpPr>
          <p:spPr>
            <a:xfrm>
              <a:off x="251520" y="1700808"/>
              <a:ext cx="2232248" cy="504056"/>
            </a:xfrm>
            <a:prstGeom prst="roundRect">
              <a:avLst>
                <a:gd name="adj" fmla="val 10278"/>
              </a:avLst>
            </a:prstGeom>
            <a:solidFill>
              <a:srgbClr val="0070C0"/>
            </a:solidFill>
            <a:ln>
              <a:noFill/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lIns="99745" tIns="49873" rIns="99745" bIns="49873" anchor="ctr"/>
            <a:lstStyle/>
            <a:p>
              <a:pPr marL="180975" latinLnBrk="1">
                <a:lnSpc>
                  <a:spcPct val="130000"/>
                </a:lnSpc>
                <a:buFontTx/>
                <a:buChar char="•"/>
              </a:pPr>
              <a:endParaRPr lang="zh-TW" altLang="en-US" sz="1300" b="1" dirty="0">
                <a:solidFill>
                  <a:srgbClr val="800000"/>
                </a:solidFill>
                <a:ea typeface="標楷體" pitchFamily="65" charset="-120"/>
              </a:endParaRPr>
            </a:p>
          </p:txBody>
        </p:sp>
        <p:sp>
          <p:nvSpPr>
            <p:cNvPr id="12" name="TextBox 3"/>
            <p:cNvSpPr txBox="1"/>
            <p:nvPr/>
          </p:nvSpPr>
          <p:spPr>
            <a:xfrm>
              <a:off x="827584" y="1700808"/>
              <a:ext cx="16083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TW" altLang="en-US" sz="2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軟正黑體" pitchFamily="34" charset="-120"/>
                  <a:ea typeface="微軟正黑體" pitchFamily="34" charset="-120"/>
                </a:rPr>
                <a:t>計畫摘要</a:t>
              </a:r>
              <a:endParaRPr lang="en-US" alt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23528" y="1700808"/>
              <a:ext cx="62388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 smtClean="0">
                  <a:solidFill>
                    <a:schemeClr val="bg1"/>
                  </a:solidFill>
                  <a:effectLst>
                    <a:innerShdw blurRad="63500" dist="76200" dir="13500000">
                      <a:prstClr val="black">
                        <a:alpha val="38000"/>
                      </a:prstClr>
                    </a:innerShdw>
                  </a:effectLst>
                  <a:latin typeface="Verdana" pitchFamily="34" charset="0"/>
                </a:rPr>
                <a:t>01</a:t>
              </a:r>
              <a:endParaRPr lang="zh-TW" altLang="en-US" sz="2400" dirty="0"/>
            </a:p>
          </p:txBody>
        </p:sp>
      </p:grpSp>
      <p:sp>
        <p:nvSpPr>
          <p:cNvPr id="16" name="圓角矩形 15"/>
          <p:cNvSpPr/>
          <p:nvPr/>
        </p:nvSpPr>
        <p:spPr>
          <a:xfrm>
            <a:off x="251519" y="548680"/>
            <a:ext cx="8734825" cy="10081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lIns="99745" tIns="49873" rIns="99745" bIns="49873" anchor="ctr"/>
          <a:lstStyle/>
          <a:p>
            <a:pPr marL="180975" latinLnBrk="1">
              <a:lnSpc>
                <a:spcPct val="130000"/>
              </a:lnSpc>
              <a:buFontTx/>
              <a:buChar char="•"/>
            </a:pPr>
            <a:endParaRPr lang="zh-TW" altLang="en-US" sz="1300" b="1" dirty="0">
              <a:solidFill>
                <a:srgbClr val="800000"/>
              </a:solidFill>
              <a:ea typeface="標楷體" pitchFamily="65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5536" y="541129"/>
            <a:ext cx="84249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TW" altLang="en-US" sz="2000" dirty="0" smtClean="0">
                <a:ea typeface="微軟正黑體" pitchFamily="34" charset="-120"/>
              </a:rPr>
              <a:t>計畫類型：</a:t>
            </a:r>
            <a:r>
              <a:rPr lang="en-US" altLang="zh-TW" sz="2000" dirty="0" smtClean="0">
                <a:ea typeface="微軟正黑體" pitchFamily="34" charset="-120"/>
              </a:rPr>
              <a:t>XXXXX</a:t>
            </a:r>
            <a:r>
              <a:rPr lang="zh-TW" altLang="en-US" sz="2000" dirty="0" smtClean="0">
                <a:ea typeface="微軟正黑體" pitchFamily="34" charset="-120"/>
              </a:rPr>
              <a:t>計畫</a:t>
            </a:r>
            <a:r>
              <a:rPr lang="en-US" altLang="zh-TW" sz="2000" dirty="0" smtClean="0">
                <a:ea typeface="微軟正黑體" pitchFamily="34" charset="-120"/>
              </a:rPr>
              <a:t>(XXX</a:t>
            </a:r>
            <a:r>
              <a:rPr lang="zh-TW" altLang="en-US" sz="2000" dirty="0" smtClean="0">
                <a:ea typeface="微軟正黑體" pitchFamily="34" charset="-120"/>
              </a:rPr>
              <a:t>年度</a:t>
            </a:r>
            <a:r>
              <a:rPr lang="en-US" altLang="zh-TW" sz="2000" dirty="0" smtClean="0">
                <a:ea typeface="微軟正黑體" pitchFamily="34" charset="-120"/>
              </a:rPr>
              <a:t>)</a:t>
            </a:r>
          </a:p>
          <a:p>
            <a:pPr>
              <a:lnSpc>
                <a:spcPts val="2400"/>
              </a:lnSpc>
            </a:pPr>
            <a:r>
              <a:rPr lang="zh-TW" altLang="en-US" sz="2000" dirty="0" smtClean="0">
                <a:ea typeface="微軟正黑體" pitchFamily="34" charset="-120"/>
              </a:rPr>
              <a:t>計畫名稱：</a:t>
            </a:r>
            <a:r>
              <a:rPr lang="en-US" altLang="zh-TW" sz="2000" dirty="0" smtClean="0">
                <a:ea typeface="微軟正黑體" pitchFamily="34" charset="-120"/>
              </a:rPr>
              <a:t>XXXXXXXXXXX</a:t>
            </a:r>
            <a:r>
              <a:rPr lang="zh-TW" altLang="en-US" sz="2000" dirty="0" smtClean="0">
                <a:ea typeface="微軟正黑體" pitchFamily="34" charset="-120"/>
              </a:rPr>
              <a:t>計畫</a:t>
            </a:r>
            <a:endParaRPr lang="en-US" altLang="zh-TW" sz="2000" dirty="0" smtClean="0">
              <a:ea typeface="微軟正黑體" pitchFamily="34" charset="-120"/>
            </a:endParaRPr>
          </a:p>
          <a:p>
            <a:pPr>
              <a:lnSpc>
                <a:spcPts val="2400"/>
              </a:lnSpc>
            </a:pPr>
            <a:r>
              <a:rPr lang="zh-TW" altLang="en-US" sz="2000" dirty="0">
                <a:ea typeface="微軟正黑體" pitchFamily="34" charset="-120"/>
              </a:rPr>
              <a:t>公司</a:t>
            </a:r>
            <a:r>
              <a:rPr lang="zh-TW" altLang="en-US" sz="2000" dirty="0" smtClean="0">
                <a:ea typeface="微軟正黑體" pitchFamily="34" charset="-120"/>
              </a:rPr>
              <a:t>名稱：</a:t>
            </a:r>
            <a:r>
              <a:rPr lang="en-US" altLang="zh-TW" sz="2000" dirty="0" smtClean="0">
                <a:ea typeface="微軟正黑體" pitchFamily="34" charset="-120"/>
              </a:rPr>
              <a:t>XXXXXX</a:t>
            </a:r>
            <a:r>
              <a:rPr lang="zh-TW" altLang="en-US" sz="2000" dirty="0" smtClean="0">
                <a:ea typeface="微軟正黑體" pitchFamily="34" charset="-120"/>
              </a:rPr>
              <a:t>有限公司</a:t>
            </a:r>
          </a:p>
        </p:txBody>
      </p:sp>
      <p:grpSp>
        <p:nvGrpSpPr>
          <p:cNvPr id="21" name="群組 20"/>
          <p:cNvGrpSpPr/>
          <p:nvPr/>
        </p:nvGrpSpPr>
        <p:grpSpPr>
          <a:xfrm>
            <a:off x="4427984" y="1628800"/>
            <a:ext cx="2808312" cy="504056"/>
            <a:chOff x="4427984" y="1772816"/>
            <a:chExt cx="2808312" cy="504056"/>
          </a:xfrm>
        </p:grpSpPr>
        <p:sp>
          <p:nvSpPr>
            <p:cNvPr id="18" name="圓角矩形 17"/>
            <p:cNvSpPr/>
            <p:nvPr/>
          </p:nvSpPr>
          <p:spPr>
            <a:xfrm>
              <a:off x="4427984" y="1772816"/>
              <a:ext cx="2808312" cy="504056"/>
            </a:xfrm>
            <a:prstGeom prst="roundRect">
              <a:avLst/>
            </a:prstGeom>
            <a:solidFill>
              <a:srgbClr val="FF6600"/>
            </a:solidFill>
            <a:ln>
              <a:noFill/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lIns="99745" tIns="49873" rIns="99745" bIns="49873" anchor="ctr"/>
            <a:lstStyle/>
            <a:p>
              <a:pPr marL="180975" latinLnBrk="1">
                <a:lnSpc>
                  <a:spcPct val="130000"/>
                </a:lnSpc>
                <a:buFontTx/>
                <a:buChar char="•"/>
              </a:pPr>
              <a:endParaRPr lang="zh-TW" altLang="en-US" sz="1300" b="1" dirty="0">
                <a:solidFill>
                  <a:srgbClr val="800000"/>
                </a:solidFill>
                <a:ea typeface="標楷體" pitchFamily="65" charset="-120"/>
              </a:endParaRPr>
            </a:p>
          </p:txBody>
        </p:sp>
        <p:sp>
          <p:nvSpPr>
            <p:cNvPr id="19" name="TextBox 3"/>
            <p:cNvSpPr txBox="1"/>
            <p:nvPr/>
          </p:nvSpPr>
          <p:spPr>
            <a:xfrm>
              <a:off x="5004048" y="1772816"/>
              <a:ext cx="21602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TW" altLang="en-US" sz="2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軟正黑體" pitchFamily="34" charset="-120"/>
                  <a:ea typeface="微軟正黑體" pitchFamily="34" charset="-120"/>
                </a:rPr>
                <a:t>政府輔導資源</a:t>
              </a:r>
              <a:endParaRPr lang="en-US" alt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473177" y="1772816"/>
              <a:ext cx="62388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 smtClean="0">
                  <a:solidFill>
                    <a:schemeClr val="bg1"/>
                  </a:solidFill>
                  <a:effectLst>
                    <a:innerShdw blurRad="63500" dist="76200" dir="13500000">
                      <a:prstClr val="black">
                        <a:alpha val="38000"/>
                      </a:prstClr>
                    </a:innerShdw>
                  </a:effectLst>
                  <a:latin typeface="Verdana" pitchFamily="34" charset="0"/>
                </a:rPr>
                <a:t>02</a:t>
              </a:r>
              <a:endParaRPr lang="zh-TW" altLang="en-US" sz="2400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4427984" y="3140968"/>
            <a:ext cx="2088232" cy="504056"/>
            <a:chOff x="4427984" y="3140968"/>
            <a:chExt cx="2088232" cy="504056"/>
          </a:xfrm>
        </p:grpSpPr>
        <p:sp>
          <p:nvSpPr>
            <p:cNvPr id="23" name="圓角矩形 22"/>
            <p:cNvSpPr/>
            <p:nvPr/>
          </p:nvSpPr>
          <p:spPr>
            <a:xfrm>
              <a:off x="4427984" y="3140968"/>
              <a:ext cx="2088232" cy="504056"/>
            </a:xfrm>
            <a:prstGeom prst="roundRect">
              <a:avLst/>
            </a:prstGeom>
            <a:solidFill>
              <a:srgbClr val="00B050"/>
            </a:solidFill>
            <a:ln>
              <a:noFill/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lIns="99745" tIns="49873" rIns="99745" bIns="49873" anchor="ctr"/>
            <a:lstStyle/>
            <a:p>
              <a:pPr marL="180975" latinLnBrk="1">
                <a:lnSpc>
                  <a:spcPct val="130000"/>
                </a:lnSpc>
                <a:buFontTx/>
                <a:buChar char="•"/>
              </a:pPr>
              <a:endParaRPr lang="zh-TW" altLang="en-US" sz="1300" b="1" dirty="0">
                <a:solidFill>
                  <a:srgbClr val="800000"/>
                </a:solidFill>
                <a:ea typeface="標楷體" pitchFamily="65" charset="-120"/>
              </a:endParaRPr>
            </a:p>
          </p:txBody>
        </p:sp>
        <p:sp>
          <p:nvSpPr>
            <p:cNvPr id="24" name="TextBox 3"/>
            <p:cNvSpPr txBox="1"/>
            <p:nvPr/>
          </p:nvSpPr>
          <p:spPr>
            <a:xfrm>
              <a:off x="5004048" y="3140968"/>
              <a:ext cx="14401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TW" altLang="en-US" sz="2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微軟正黑體" pitchFamily="34" charset="-120"/>
                  <a:ea typeface="微軟正黑體" pitchFamily="34" charset="-120"/>
                </a:rPr>
                <a:t>目標市場</a:t>
              </a:r>
              <a:endParaRPr lang="en-US" alt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4499992" y="3140968"/>
              <a:ext cx="62388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 smtClean="0">
                  <a:solidFill>
                    <a:schemeClr val="bg1"/>
                  </a:solidFill>
                  <a:effectLst>
                    <a:innerShdw blurRad="63500" dist="76200" dir="13500000">
                      <a:prstClr val="black">
                        <a:alpha val="38000"/>
                      </a:prstClr>
                    </a:innerShdw>
                  </a:effectLst>
                  <a:latin typeface="Verdana" pitchFamily="34" charset="0"/>
                </a:rPr>
                <a:t>03</a:t>
              </a:r>
              <a:endParaRPr lang="zh-TW" altLang="en-US" sz="2400" dirty="0"/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611560" y="5343356"/>
            <a:ext cx="7704856" cy="1326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spcBef>
                <a:spcPct val="15000"/>
              </a:spcBef>
              <a:spcAft>
                <a:spcPct val="10000"/>
              </a:spcAft>
              <a:tabLst>
                <a:tab pos="92075" algn="l"/>
              </a:tabLst>
            </a:pPr>
            <a:r>
              <a:rPr lang="en-US" altLang="zh-TW" sz="1600" dirty="0" smtClean="0"/>
              <a:t>(</a:t>
            </a:r>
            <a:r>
              <a:rPr lang="zh-TW" altLang="en-US" sz="1600" dirty="0" smtClean="0"/>
              <a:t>例如</a:t>
            </a:r>
            <a:r>
              <a:rPr lang="en-US" altLang="zh-TW" sz="1600" dirty="0" smtClean="0"/>
              <a:t>)</a:t>
            </a:r>
            <a:endParaRPr lang="zh-TW" altLang="en-US" sz="1600" dirty="0" smtClean="0">
              <a:solidFill>
                <a:srgbClr val="000066"/>
              </a:solidFill>
              <a:ea typeface="微軟正黑體" pitchFamily="34" charset="-120"/>
            </a:endParaRPr>
          </a:p>
          <a:p>
            <a:pPr marL="182563" indent="-182563">
              <a:lnSpc>
                <a:spcPts val="2000"/>
              </a:lnSpc>
              <a:spcBef>
                <a:spcPct val="15000"/>
              </a:spcBef>
              <a:spcAft>
                <a:spcPct val="10000"/>
              </a:spcAft>
              <a:buFont typeface="Arial" pitchFamily="34" charset="0"/>
              <a:buChar char="•"/>
              <a:tabLst>
                <a:tab pos="92075" algn="l"/>
              </a:tabLst>
            </a:pPr>
            <a:r>
              <a:rPr lang="zh-TW" altLang="en-US" sz="1600" dirty="0" smtClean="0"/>
              <a:t>擴大海外通路佈局：</a:t>
            </a:r>
            <a:endParaRPr lang="en-US" altLang="zh-TW" sz="1600" dirty="0" smtClean="0">
              <a:solidFill>
                <a:srgbClr val="000066"/>
              </a:solidFill>
              <a:ea typeface="微軟正黑體" pitchFamily="34" charset="-120"/>
            </a:endParaRPr>
          </a:p>
          <a:p>
            <a:pPr marL="182563" indent="-182563">
              <a:lnSpc>
                <a:spcPts val="2000"/>
              </a:lnSpc>
              <a:spcBef>
                <a:spcPct val="15000"/>
              </a:spcBef>
              <a:spcAft>
                <a:spcPct val="10000"/>
              </a:spcAft>
              <a:buFont typeface="Arial" pitchFamily="34" charset="0"/>
              <a:buChar char="•"/>
              <a:tabLst>
                <a:tab pos="92075" algn="l"/>
              </a:tabLst>
            </a:pPr>
            <a:r>
              <a:rPr lang="zh-TW" altLang="en-US" sz="1600" dirty="0" smtClean="0"/>
              <a:t>創造市場營</a:t>
            </a:r>
            <a:r>
              <a:rPr lang="zh-TW" altLang="en-US" sz="1600" smtClean="0"/>
              <a:t>收績效：</a:t>
            </a:r>
            <a:endParaRPr lang="en-US" altLang="zh-TW" sz="1600" dirty="0" smtClean="0">
              <a:solidFill>
                <a:srgbClr val="000066"/>
              </a:solidFill>
              <a:ea typeface="微軟正黑體" pitchFamily="34" charset="-120"/>
            </a:endParaRPr>
          </a:p>
          <a:p>
            <a:pPr marL="182563" indent="-182563">
              <a:lnSpc>
                <a:spcPts val="2000"/>
              </a:lnSpc>
              <a:spcBef>
                <a:spcPct val="15000"/>
              </a:spcBef>
              <a:spcAft>
                <a:spcPct val="10000"/>
              </a:spcAft>
              <a:buFont typeface="Arial" pitchFamily="34" charset="0"/>
              <a:buChar char="•"/>
              <a:tabLst>
                <a:tab pos="92075" algn="l"/>
              </a:tabLst>
            </a:pPr>
            <a:r>
              <a:rPr lang="en-US" altLang="zh-TW" sz="1600" dirty="0" smtClean="0"/>
              <a:t>……..</a:t>
            </a:r>
          </a:p>
        </p:txBody>
      </p:sp>
      <p:sp>
        <p:nvSpPr>
          <p:cNvPr id="29" name="標題 28"/>
          <p:cNvSpPr>
            <a:spLocks noGrp="1"/>
          </p:cNvSpPr>
          <p:nvPr>
            <p:ph type="title"/>
          </p:nvPr>
        </p:nvSpPr>
        <p:spPr>
          <a:xfrm>
            <a:off x="457200" y="72008"/>
            <a:ext cx="8229600" cy="476672"/>
          </a:xfrm>
        </p:spPr>
        <p:txBody>
          <a:bodyPr>
            <a:noAutofit/>
          </a:bodyPr>
          <a:lstStyle/>
          <a:p>
            <a:r>
              <a:rPr lang="zh-TW" altLang="en-US" sz="3600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計畫全程成效摘要</a:t>
            </a:r>
            <a:endParaRPr lang="zh-TW" altLang="en-US" sz="3600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59</Words>
  <Application>Microsoft Office PowerPoint</Application>
  <PresentationFormat>如螢幕大小 (4:3)</PresentationFormat>
  <Paragraphs>16</Paragraphs>
  <Slides>1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微軟正黑體</vt:lpstr>
      <vt:lpstr>新細明體</vt:lpstr>
      <vt:lpstr>標楷體</vt:lpstr>
      <vt:lpstr>Arial</vt:lpstr>
      <vt:lpstr>Calibri</vt:lpstr>
      <vt:lpstr>Verdana</vt:lpstr>
      <vt:lpstr>Office 佈景主題</vt:lpstr>
      <vt:lpstr>點陣圖影像</vt:lpstr>
      <vt:lpstr>計畫全程成效摘要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陳昱欣</dc:creator>
  <cp:lastModifiedBy>邱麗鶴</cp:lastModifiedBy>
  <cp:revision>16</cp:revision>
  <dcterms:created xsi:type="dcterms:W3CDTF">2015-08-14T05:54:42Z</dcterms:created>
  <dcterms:modified xsi:type="dcterms:W3CDTF">2016-05-16T10:08:11Z</dcterms:modified>
</cp:coreProperties>
</file>